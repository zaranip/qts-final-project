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50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645920"/>
            <a:ext cx="9601200" cy="1097280"/>
          </a:xfrm>
          <a:prstGeom prst="rect">
            <a:avLst/>
          </a:prstGeom>
          <a:noFill/>
        </p:spPr>
        <p:txBody>
          <a:bodyPr wrap="square">
            <a:spAutoFit/>
          </a:bodyPr>
          <a:lstStyle/>
          <a:p>
            <a:pPr algn="l">
              <a:defRPr sz="4400" b="1">
                <a:solidFill>
                  <a:srgbClr val="FFFFFF"/>
                </a:solidFill>
                <a:latin typeface="Calibri"/>
              </a:defRPr>
            </a:pPr>
            <a:r>
              <a:t>MST Topology Trading</a:t>
            </a:r>
          </a:p>
        </p:txBody>
      </p:sp>
      <p:sp>
        <p:nvSpPr>
          <p:cNvPr id="4" name="TextBox 3"/>
          <p:cNvSpPr txBox="1"/>
          <p:nvPr/>
        </p:nvSpPr>
        <p:spPr>
          <a:xfrm>
            <a:off x="1097280" y="2743200"/>
            <a:ext cx="9601200" cy="731520"/>
          </a:xfrm>
          <a:prstGeom prst="rect">
            <a:avLst/>
          </a:prstGeom>
          <a:noFill/>
        </p:spPr>
        <p:txBody>
          <a:bodyPr wrap="square">
            <a:spAutoFit/>
          </a:bodyPr>
          <a:lstStyle/>
          <a:p>
            <a:pPr algn="l">
              <a:defRPr sz="2200" b="0">
                <a:solidFill>
                  <a:srgbClr val="3A7CA5"/>
                </a:solidFill>
                <a:latin typeface="Calibri"/>
              </a:defRPr>
            </a:pPr>
            <a:r>
              <a:t>A Cross-Asset Relative-Value Strategy Using Network Structure</a:t>
            </a:r>
          </a:p>
        </p:txBody>
      </p:sp>
      <p:sp>
        <p:nvSpPr>
          <p:cNvPr id="5" name="Rectangle 4"/>
          <p:cNvSpPr/>
          <p:nvPr/>
        </p:nvSpPr>
        <p:spPr>
          <a:xfrm>
            <a:off x="1097280" y="3657600"/>
            <a:ext cx="2743200" cy="27432"/>
          </a:xfrm>
          <a:prstGeom prst="rect">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3931920"/>
            <a:ext cx="5486400" cy="457200"/>
          </a:xfrm>
          <a:prstGeom prst="rect">
            <a:avLst/>
          </a:prstGeom>
          <a:noFill/>
        </p:spPr>
        <p:txBody>
          <a:bodyPr wrap="square">
            <a:spAutoFit/>
          </a:bodyPr>
          <a:lstStyle/>
          <a:p>
            <a:pPr algn="l">
              <a:defRPr sz="1800" b="0">
                <a:solidFill>
                  <a:srgbClr val="FFFFFF"/>
                </a:solidFill>
                <a:latin typeface="Calibri"/>
              </a:defRPr>
            </a:pPr>
            <a:r>
              <a:t>Zara Nip  |  Student ID: 12411910</a:t>
            </a:r>
          </a:p>
        </p:txBody>
      </p:sp>
      <p:sp>
        <p:nvSpPr>
          <p:cNvPr id="7" name="TextBox 6"/>
          <p:cNvSpPr txBox="1"/>
          <p:nvPr/>
        </p:nvSpPr>
        <p:spPr>
          <a:xfrm>
            <a:off x="1097280" y="4480560"/>
            <a:ext cx="5486400" cy="457200"/>
          </a:xfrm>
          <a:prstGeom prst="rect">
            <a:avLst/>
          </a:prstGeom>
          <a:noFill/>
        </p:spPr>
        <p:txBody>
          <a:bodyPr wrap="square">
            <a:spAutoFit/>
          </a:bodyPr>
          <a:lstStyle/>
          <a:p>
            <a:pPr algn="l">
              <a:defRPr sz="1400" b="0">
                <a:solidFill>
                  <a:srgbClr val="99AABB"/>
                </a:solidFill>
                <a:latin typeface="Calibri"/>
              </a:defRPr>
            </a:pPr>
            <a:r>
              <a:t>FINM — Quantitative Trading Strategies  |  Winter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The Opportunity</a:t>
            </a:r>
          </a:p>
        </p:txBody>
      </p:sp>
      <p:sp>
        <p:nvSpPr>
          <p:cNvPr id="4" name="TextBox 3"/>
          <p:cNvSpPr txBox="1"/>
          <p:nvPr/>
        </p:nvSpPr>
        <p:spPr>
          <a:xfrm>
            <a:off x="914400" y="1371600"/>
            <a:ext cx="10058400" cy="877163"/>
          </a:xfrm>
          <a:prstGeom prst="rect">
            <a:avLst/>
          </a:prstGeom>
          <a:noFill/>
        </p:spPr>
        <p:txBody>
          <a:bodyPr wrap="square">
            <a:spAutoFit/>
          </a:bodyPr>
          <a:lstStyle/>
          <a:p>
            <a:pPr algn="l">
              <a:defRPr sz="1700" b="0">
                <a:solidFill>
                  <a:srgbClr val="333333"/>
                </a:solidFill>
                <a:latin typeface="Calibri"/>
              </a:defRPr>
            </a:pPr>
            <a:r>
              <a:rPr dirty="0"/>
              <a:t>Financial markets are an interconnected network</a:t>
            </a:r>
            <a:r>
              <a:rPr lang="en-US" dirty="0"/>
              <a:t> of independent assets</a:t>
            </a:r>
            <a:r>
              <a:rPr dirty="0"/>
              <a:t>. When relationships between assets temporarily break down, prices tend to snap back to their normal patterns. Our strategy systematically identifies and profits from these temporary dislocations.</a:t>
            </a:r>
          </a:p>
        </p:txBody>
      </p:sp>
      <p:sp>
        <p:nvSpPr>
          <p:cNvPr id="5" name="TextBox 4"/>
          <p:cNvSpPr txBox="1"/>
          <p:nvPr/>
        </p:nvSpPr>
        <p:spPr>
          <a:xfrm>
            <a:off x="914400" y="2560320"/>
            <a:ext cx="10058400" cy="2226250"/>
          </a:xfrm>
          <a:prstGeom prst="rect">
            <a:avLst/>
          </a:prstGeom>
          <a:noFill/>
        </p:spPr>
        <p:txBody>
          <a:bodyPr wrap="square">
            <a:spAutoFit/>
          </a:bodyPr>
          <a:lstStyle/>
          <a:p>
            <a:pPr>
              <a:spcAft>
                <a:spcPts val="800"/>
              </a:spcAft>
              <a:defRPr sz="1600">
                <a:solidFill>
                  <a:srgbClr val="333333"/>
                </a:solidFill>
                <a:latin typeface="Calibri"/>
              </a:defRPr>
            </a:pPr>
            <a:r>
              <a:rPr lang="en-US" b="1" dirty="0"/>
              <a:t>Key Ideas:</a:t>
            </a:r>
          </a:p>
          <a:p>
            <a:pPr marL="285750" indent="-285750">
              <a:spcAft>
                <a:spcPts val="800"/>
              </a:spcAft>
              <a:buFont typeface="Arial" panose="020B0604020202020204" pitchFamily="34" charset="0"/>
              <a:buChar char="•"/>
              <a:defRPr sz="1600">
                <a:solidFill>
                  <a:srgbClr val="333333"/>
                </a:solidFill>
                <a:latin typeface="Calibri"/>
              </a:defRPr>
            </a:pPr>
            <a:r>
              <a:rPr dirty="0"/>
              <a:t>We trade across equity sectors, commodities, currencies, and fixed income — not just stocks</a:t>
            </a:r>
          </a:p>
          <a:p>
            <a:pPr marL="285750" indent="-285750">
              <a:spcAft>
                <a:spcPts val="800"/>
              </a:spcAft>
              <a:buFont typeface="Arial" panose="020B0604020202020204" pitchFamily="34" charset="0"/>
              <a:buChar char="•"/>
              <a:defRPr sz="1600">
                <a:solidFill>
                  <a:srgbClr val="333333"/>
                </a:solidFill>
                <a:latin typeface="Calibri"/>
              </a:defRPr>
            </a:pPr>
            <a:r>
              <a:rPr dirty="0"/>
              <a:t>Rather than looking at assets in isolation, we analyze how the entire market hangs together and trade when connections stretch too far</a:t>
            </a:r>
          </a:p>
          <a:p>
            <a:pPr marL="285750" indent="-285750">
              <a:spcAft>
                <a:spcPts val="800"/>
              </a:spcAft>
              <a:buFont typeface="Arial" panose="020B0604020202020204" pitchFamily="34" charset="0"/>
              <a:buChar char="•"/>
              <a:defRPr sz="1600">
                <a:solidFill>
                  <a:srgbClr val="333333"/>
                </a:solidFill>
                <a:latin typeface="Calibri"/>
              </a:defRPr>
            </a:pPr>
            <a:r>
              <a:rPr dirty="0"/>
              <a:t>Temporary breaks in well-established relationships are among the most reliable sources of return in quantitative finance</a:t>
            </a:r>
          </a:p>
          <a:p>
            <a:pPr marL="285750" indent="-285750">
              <a:spcAft>
                <a:spcPts val="800"/>
              </a:spcAft>
              <a:buFont typeface="Arial" panose="020B0604020202020204" pitchFamily="34" charset="0"/>
              <a:buChar char="•"/>
              <a:defRPr sz="1600">
                <a:solidFill>
                  <a:srgbClr val="333333"/>
                </a:solidFill>
                <a:latin typeface="Calibri"/>
              </a:defRPr>
            </a:pPr>
            <a:r>
              <a:rPr dirty="0"/>
              <a:t>Every position is calibrated to a volatility target, preventing any single trade from dominating portfolio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How It Works</a:t>
            </a:r>
          </a:p>
        </p:txBody>
      </p:sp>
      <p:sp>
        <p:nvSpPr>
          <p:cNvPr id="4" name="Oval 3"/>
          <p:cNvSpPr/>
          <p:nvPr/>
        </p:nvSpPr>
        <p:spPr>
          <a:xfrm>
            <a:off x="548640" y="1371600"/>
            <a:ext cx="502920" cy="502920"/>
          </a:xfrm>
          <a:prstGeom prst="ellipse">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5" name="TextBox 4"/>
          <p:cNvSpPr txBox="1"/>
          <p:nvPr/>
        </p:nvSpPr>
        <p:spPr>
          <a:xfrm>
            <a:off x="548640" y="2057400"/>
            <a:ext cx="2651760" cy="411480"/>
          </a:xfrm>
          <a:prstGeom prst="rect">
            <a:avLst/>
          </a:prstGeom>
          <a:noFill/>
        </p:spPr>
        <p:txBody>
          <a:bodyPr wrap="square">
            <a:spAutoFit/>
          </a:bodyPr>
          <a:lstStyle/>
          <a:p>
            <a:pPr algn="l">
              <a:defRPr sz="1800" b="1">
                <a:solidFill>
                  <a:srgbClr val="1B2A4A"/>
                </a:solidFill>
                <a:latin typeface="Calibri"/>
              </a:defRPr>
            </a:pPr>
            <a:r>
              <a:t>Map the Market</a:t>
            </a:r>
          </a:p>
        </p:txBody>
      </p:sp>
      <p:sp>
        <p:nvSpPr>
          <p:cNvPr id="6" name="TextBox 5"/>
          <p:cNvSpPr txBox="1"/>
          <p:nvPr/>
        </p:nvSpPr>
        <p:spPr>
          <a:xfrm>
            <a:off x="548640" y="2514600"/>
            <a:ext cx="2651760" cy="3200400"/>
          </a:xfrm>
          <a:prstGeom prst="rect">
            <a:avLst/>
          </a:prstGeom>
          <a:noFill/>
        </p:spPr>
        <p:txBody>
          <a:bodyPr wrap="square">
            <a:spAutoFit/>
          </a:bodyPr>
          <a:lstStyle/>
          <a:p>
            <a:pPr algn="l">
              <a:defRPr sz="1400" b="0">
                <a:solidFill>
                  <a:srgbClr val="666666"/>
                </a:solidFill>
                <a:latin typeface="Calibri"/>
              </a:defRPr>
            </a:pPr>
            <a:r>
              <a:t>We measure how closely each pair of assets moves together over the past year, then build a 'map' that connects every asset to its most related neighbors — a minimum spanning tree.</a:t>
            </a:r>
          </a:p>
        </p:txBody>
      </p:sp>
      <p:sp>
        <p:nvSpPr>
          <p:cNvPr id="7" name="Oval 6"/>
          <p:cNvSpPr/>
          <p:nvPr/>
        </p:nvSpPr>
        <p:spPr>
          <a:xfrm>
            <a:off x="3429000" y="1371600"/>
            <a:ext cx="502920" cy="502920"/>
          </a:xfrm>
          <a:prstGeom prst="ellipse">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8" name="TextBox 7"/>
          <p:cNvSpPr txBox="1"/>
          <p:nvPr/>
        </p:nvSpPr>
        <p:spPr>
          <a:xfrm>
            <a:off x="3429000" y="2057400"/>
            <a:ext cx="2651760" cy="411480"/>
          </a:xfrm>
          <a:prstGeom prst="rect">
            <a:avLst/>
          </a:prstGeom>
          <a:noFill/>
        </p:spPr>
        <p:txBody>
          <a:bodyPr wrap="square">
            <a:spAutoFit/>
          </a:bodyPr>
          <a:lstStyle/>
          <a:p>
            <a:pPr algn="l">
              <a:defRPr sz="1800" b="1">
                <a:solidFill>
                  <a:srgbClr val="1B2A4A"/>
                </a:solidFill>
                <a:latin typeface="Calibri"/>
              </a:defRPr>
            </a:pPr>
            <a:r>
              <a:t>Spot Dislocations</a:t>
            </a:r>
          </a:p>
        </p:txBody>
      </p:sp>
      <p:sp>
        <p:nvSpPr>
          <p:cNvPr id="9" name="TextBox 8"/>
          <p:cNvSpPr txBox="1"/>
          <p:nvPr/>
        </p:nvSpPr>
        <p:spPr>
          <a:xfrm>
            <a:off x="3429000" y="2514600"/>
            <a:ext cx="2651760" cy="3200400"/>
          </a:xfrm>
          <a:prstGeom prst="rect">
            <a:avLst/>
          </a:prstGeom>
          <a:noFill/>
        </p:spPr>
        <p:txBody>
          <a:bodyPr wrap="square">
            <a:spAutoFit/>
          </a:bodyPr>
          <a:lstStyle/>
          <a:p>
            <a:pPr algn="l">
              <a:defRPr sz="1400" b="0">
                <a:solidFill>
                  <a:srgbClr val="666666"/>
                </a:solidFill>
                <a:latin typeface="Calibri"/>
              </a:defRPr>
            </a:pPr>
            <a:r>
              <a:t>When two normally-close assets drift apart on the map, the strategy flags this as a temporary dislocation. We measure the severity using a network distance metric called effective resistance.</a:t>
            </a:r>
          </a:p>
        </p:txBody>
      </p:sp>
      <p:sp>
        <p:nvSpPr>
          <p:cNvPr id="10" name="Oval 9"/>
          <p:cNvSpPr/>
          <p:nvPr/>
        </p:nvSpPr>
        <p:spPr>
          <a:xfrm>
            <a:off x="6309359" y="1371600"/>
            <a:ext cx="502920" cy="502920"/>
          </a:xfrm>
          <a:prstGeom prst="ellipse">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11" name="TextBox 10"/>
          <p:cNvSpPr txBox="1"/>
          <p:nvPr/>
        </p:nvSpPr>
        <p:spPr>
          <a:xfrm>
            <a:off x="6309359" y="2057400"/>
            <a:ext cx="2651760" cy="411480"/>
          </a:xfrm>
          <a:prstGeom prst="rect">
            <a:avLst/>
          </a:prstGeom>
          <a:noFill/>
        </p:spPr>
        <p:txBody>
          <a:bodyPr wrap="square">
            <a:spAutoFit/>
          </a:bodyPr>
          <a:lstStyle/>
          <a:p>
            <a:pPr algn="l">
              <a:defRPr sz="1800" b="1">
                <a:solidFill>
                  <a:srgbClr val="1B2A4A"/>
                </a:solidFill>
                <a:latin typeface="Calibri"/>
              </a:defRPr>
            </a:pPr>
            <a:r>
              <a:t>Trade the Snap-Back</a:t>
            </a:r>
          </a:p>
        </p:txBody>
      </p:sp>
      <p:sp>
        <p:nvSpPr>
          <p:cNvPr id="12" name="TextBox 11"/>
          <p:cNvSpPr txBox="1"/>
          <p:nvPr/>
        </p:nvSpPr>
        <p:spPr>
          <a:xfrm>
            <a:off x="6309359" y="2514600"/>
            <a:ext cx="2651760" cy="3200400"/>
          </a:xfrm>
          <a:prstGeom prst="rect">
            <a:avLst/>
          </a:prstGeom>
          <a:noFill/>
        </p:spPr>
        <p:txBody>
          <a:bodyPr wrap="square">
            <a:spAutoFit/>
          </a:bodyPr>
          <a:lstStyle/>
          <a:p>
            <a:pPr algn="l">
              <a:defRPr sz="1400" b="0">
                <a:solidFill>
                  <a:srgbClr val="666666"/>
                </a:solidFill>
                <a:latin typeface="Calibri"/>
              </a:defRPr>
            </a:pPr>
            <a:r>
              <a:t>We go long the lagging asset and short the leading one, sized proportionally to how extreme the dislocation is. Positions are rebalanced weekly as the map updates.</a:t>
            </a:r>
          </a:p>
        </p:txBody>
      </p:sp>
      <p:sp>
        <p:nvSpPr>
          <p:cNvPr id="13" name="Oval 12"/>
          <p:cNvSpPr/>
          <p:nvPr/>
        </p:nvSpPr>
        <p:spPr>
          <a:xfrm>
            <a:off x="9189719" y="1371600"/>
            <a:ext cx="502920" cy="502920"/>
          </a:xfrm>
          <a:prstGeom prst="ellipse">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4</a:t>
            </a:r>
          </a:p>
        </p:txBody>
      </p:sp>
      <p:sp>
        <p:nvSpPr>
          <p:cNvPr id="14" name="TextBox 13"/>
          <p:cNvSpPr txBox="1"/>
          <p:nvPr/>
        </p:nvSpPr>
        <p:spPr>
          <a:xfrm>
            <a:off x="9189719" y="2057400"/>
            <a:ext cx="2651760" cy="411480"/>
          </a:xfrm>
          <a:prstGeom prst="rect">
            <a:avLst/>
          </a:prstGeom>
          <a:noFill/>
        </p:spPr>
        <p:txBody>
          <a:bodyPr wrap="square">
            <a:spAutoFit/>
          </a:bodyPr>
          <a:lstStyle/>
          <a:p>
            <a:pPr algn="l">
              <a:defRPr sz="1800" b="1">
                <a:solidFill>
                  <a:srgbClr val="1B2A4A"/>
                </a:solidFill>
                <a:latin typeface="Calibri"/>
              </a:defRPr>
            </a:pPr>
            <a:r>
              <a:t>Manage Risk</a:t>
            </a:r>
          </a:p>
        </p:txBody>
      </p:sp>
      <p:sp>
        <p:nvSpPr>
          <p:cNvPr id="15" name="TextBox 14"/>
          <p:cNvSpPr txBox="1"/>
          <p:nvPr/>
        </p:nvSpPr>
        <p:spPr>
          <a:xfrm>
            <a:off x="9189719" y="2514600"/>
            <a:ext cx="2651760" cy="3200400"/>
          </a:xfrm>
          <a:prstGeom prst="rect">
            <a:avLst/>
          </a:prstGeom>
          <a:noFill/>
        </p:spPr>
        <p:txBody>
          <a:bodyPr wrap="square">
            <a:spAutoFit/>
          </a:bodyPr>
          <a:lstStyle/>
          <a:p>
            <a:pPr algn="l">
              <a:defRPr sz="1400" b="0">
                <a:solidFill>
                  <a:srgbClr val="666666"/>
                </a:solidFill>
                <a:latin typeface="Calibri"/>
              </a:defRPr>
            </a:pPr>
            <a:r>
              <a:t>We monitor the overall connectivity of the market. When the network fragments — a sign of structural stress — we automatically reduce exposure to protect capital.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Central vs Peripheral Assets</a:t>
            </a:r>
          </a:p>
        </p:txBody>
      </p:sp>
      <p:sp>
        <p:nvSpPr>
          <p:cNvPr id="4" name="TextBox 3"/>
          <p:cNvSpPr txBox="1"/>
          <p:nvPr/>
        </p:nvSpPr>
        <p:spPr>
          <a:xfrm>
            <a:off x="914400" y="1234440"/>
            <a:ext cx="10058400" cy="1097280"/>
          </a:xfrm>
          <a:prstGeom prst="rect">
            <a:avLst/>
          </a:prstGeom>
          <a:noFill/>
        </p:spPr>
        <p:txBody>
          <a:bodyPr wrap="square">
            <a:spAutoFit/>
          </a:bodyPr>
          <a:lstStyle/>
          <a:p>
            <a:pPr algn="l">
              <a:defRPr sz="1700" b="0">
                <a:solidFill>
                  <a:srgbClr val="333333"/>
                </a:solidFill>
                <a:latin typeface="Calibri"/>
              </a:defRPr>
            </a:pPr>
            <a:r>
              <a:t>The minimum spanning tree reveals which assets sit at the core of the market and which live on its edges. This distinction drives the economic logic of the strategy.</a:t>
            </a:r>
          </a:p>
        </p:txBody>
      </p:sp>
      <p:sp>
        <p:nvSpPr>
          <p:cNvPr id="5" name="Rectangle 4"/>
          <p:cNvSpPr/>
          <p:nvPr/>
        </p:nvSpPr>
        <p:spPr>
          <a:xfrm>
            <a:off x="731520" y="2286000"/>
            <a:ext cx="5029200" cy="39319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423160"/>
            <a:ext cx="4572000" cy="457200"/>
          </a:xfrm>
          <a:prstGeom prst="rect">
            <a:avLst/>
          </a:prstGeom>
          <a:noFill/>
        </p:spPr>
        <p:txBody>
          <a:bodyPr wrap="square">
            <a:spAutoFit/>
          </a:bodyPr>
          <a:lstStyle/>
          <a:p>
            <a:pPr algn="l">
              <a:defRPr sz="2000" b="1">
                <a:solidFill>
                  <a:srgbClr val="1B2A4A"/>
                </a:solidFill>
                <a:latin typeface="Calibri"/>
              </a:defRPr>
            </a:pPr>
            <a:r>
              <a:t>Hub Assets (High Degree)</a:t>
            </a:r>
          </a:p>
        </p:txBody>
      </p:sp>
      <p:sp>
        <p:nvSpPr>
          <p:cNvPr id="7" name="TextBox 6"/>
          <p:cNvSpPr txBox="1"/>
          <p:nvPr/>
        </p:nvSpPr>
        <p:spPr>
          <a:xfrm>
            <a:off x="914400" y="2971800"/>
            <a:ext cx="4572000" cy="3017520"/>
          </a:xfrm>
          <a:prstGeom prst="rect">
            <a:avLst/>
          </a:prstGeom>
          <a:noFill/>
        </p:spPr>
        <p:txBody>
          <a:bodyPr wrap="square">
            <a:spAutoFit/>
          </a:bodyPr>
          <a:lstStyle/>
          <a:p>
            <a:pPr>
              <a:spcAft>
                <a:spcPts val="800"/>
              </a:spcAft>
              <a:defRPr sz="1300">
                <a:solidFill>
                  <a:srgbClr val="333333"/>
                </a:solidFill>
                <a:latin typeface="Calibri"/>
              </a:defRPr>
            </a:pPr>
            <a:r>
              <a:t>Certain assets — typically broad equity-sector ETFs like XLF or XLK — connect to many neighbors on the tree. They act as transmission channels: when a shock hits a hub, it propagates outward to every attached branch.</a:t>
            </a:r>
          </a:p>
          <a:p>
            <a:pPr>
              <a:spcAft>
                <a:spcPts val="800"/>
              </a:spcAft>
              <a:defRPr sz="1300">
                <a:solidFill>
                  <a:srgbClr val="333333"/>
                </a:solidFill>
                <a:latin typeface="Calibri"/>
              </a:defRPr>
            </a:pPr>
            <a:r>
              <a:t>Economically, hubs represent assets whose returns embed the widest set of common factors. They are the market's 'switchboard' — information about rates, growth, and risk appetite flows through them first.</a:t>
            </a:r>
          </a:p>
          <a:p>
            <a:pPr>
              <a:spcAft>
                <a:spcPts val="800"/>
              </a:spcAft>
              <a:defRPr sz="1300">
                <a:solidFill>
                  <a:srgbClr val="333333"/>
                </a:solidFill>
                <a:latin typeface="Calibri"/>
              </a:defRPr>
            </a:pPr>
            <a:r>
              <a:t>Dislocations involving hubs tend to be short-lived because arbitrage pressure is strongest where many market participants are watching the same relationships.</a:t>
            </a:r>
          </a:p>
        </p:txBody>
      </p:sp>
      <p:sp>
        <p:nvSpPr>
          <p:cNvPr id="8" name="Rectangle 7"/>
          <p:cNvSpPr/>
          <p:nvPr/>
        </p:nvSpPr>
        <p:spPr>
          <a:xfrm>
            <a:off x="6217920" y="2286000"/>
            <a:ext cx="5029200" cy="39319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423160"/>
            <a:ext cx="4572000" cy="457200"/>
          </a:xfrm>
          <a:prstGeom prst="rect">
            <a:avLst/>
          </a:prstGeom>
          <a:noFill/>
        </p:spPr>
        <p:txBody>
          <a:bodyPr wrap="square">
            <a:spAutoFit/>
          </a:bodyPr>
          <a:lstStyle/>
          <a:p>
            <a:pPr algn="l">
              <a:defRPr sz="2000" b="1">
                <a:solidFill>
                  <a:srgbClr val="1B2A4A"/>
                </a:solidFill>
                <a:latin typeface="Calibri"/>
              </a:defRPr>
            </a:pPr>
            <a:r>
              <a:t>Peripheral Assets (Leaf Nodes)</a:t>
            </a:r>
          </a:p>
        </p:txBody>
      </p:sp>
      <p:sp>
        <p:nvSpPr>
          <p:cNvPr id="10" name="TextBox 9"/>
          <p:cNvSpPr txBox="1"/>
          <p:nvPr/>
        </p:nvSpPr>
        <p:spPr>
          <a:xfrm>
            <a:off x="6400800" y="2971800"/>
            <a:ext cx="4572000" cy="3017520"/>
          </a:xfrm>
          <a:prstGeom prst="rect">
            <a:avLst/>
          </a:prstGeom>
          <a:noFill/>
        </p:spPr>
        <p:txBody>
          <a:bodyPr wrap="square">
            <a:spAutoFit/>
          </a:bodyPr>
          <a:lstStyle/>
          <a:p>
            <a:pPr>
              <a:spcAft>
                <a:spcPts val="800"/>
              </a:spcAft>
              <a:defRPr sz="1300">
                <a:solidFill>
                  <a:srgbClr val="333333"/>
                </a:solidFill>
                <a:latin typeface="Calibri"/>
              </a:defRPr>
            </a:pPr>
            <a:r>
              <a:t>Other assets — niche commodities like DBA, single-currency ETFs like FXY — sit at the tree's leaves with only one connection. They are structurally isolated: shocks reach them only after traveling through intermediate hubs.</a:t>
            </a:r>
          </a:p>
          <a:p>
            <a:pPr>
              <a:spcAft>
                <a:spcPts val="800"/>
              </a:spcAft>
              <a:defRPr sz="1300">
                <a:solidFill>
                  <a:srgbClr val="333333"/>
                </a:solidFill>
                <a:latin typeface="Calibri"/>
              </a:defRPr>
            </a:pPr>
            <a:r>
              <a:t>Peripheral assets are driven by idiosyncratic factors (weather, local policy, commodity-specific supply) layered on top of the broad themes transmitted through the tree. Their link to the core is real but thinner.</a:t>
            </a:r>
          </a:p>
          <a:p>
            <a:pPr>
              <a:spcAft>
                <a:spcPts val="800"/>
              </a:spcAft>
              <a:defRPr sz="1300">
                <a:solidFill>
                  <a:srgbClr val="333333"/>
                </a:solidFill>
                <a:latin typeface="Calibri"/>
              </a:defRPr>
            </a:pPr>
            <a:r>
              <a:t>When a peripheral asset's effective resistance to its hub spikes, the dislocation is often caused by a transient idiosyncratic event. The structural pull back toward the hub creates a higher-conviction mean-reversion opportunity.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Why Network Centrality Matters for Trading</a:t>
            </a:r>
          </a:p>
        </p:txBody>
      </p:sp>
      <p:sp>
        <p:nvSpPr>
          <p:cNvPr id="4" name="TextBox 3"/>
          <p:cNvSpPr txBox="1"/>
          <p:nvPr/>
        </p:nvSpPr>
        <p:spPr>
          <a:xfrm>
            <a:off x="914400" y="1234440"/>
            <a:ext cx="10058400" cy="615553"/>
          </a:xfrm>
          <a:prstGeom prst="rect">
            <a:avLst/>
          </a:prstGeom>
          <a:noFill/>
        </p:spPr>
        <p:txBody>
          <a:bodyPr wrap="square">
            <a:spAutoFit/>
          </a:bodyPr>
          <a:lstStyle/>
          <a:p>
            <a:pPr algn="l">
              <a:defRPr sz="1700" b="0">
                <a:solidFill>
                  <a:srgbClr val="333333"/>
                </a:solidFill>
                <a:latin typeface="Calibri"/>
              </a:defRPr>
            </a:pPr>
            <a:r>
              <a:rPr dirty="0"/>
              <a:t>The MST encodes real economic relationships. Each asset's position on the tree tells us something about how information, risk, and capital flow through the market.</a:t>
            </a:r>
          </a:p>
        </p:txBody>
      </p:sp>
      <p:sp>
        <p:nvSpPr>
          <p:cNvPr id="5" name="TextBox 4"/>
          <p:cNvSpPr txBox="1"/>
          <p:nvPr/>
        </p:nvSpPr>
        <p:spPr>
          <a:xfrm>
            <a:off x="914400" y="2286000"/>
            <a:ext cx="10058400" cy="4114800"/>
          </a:xfrm>
          <a:prstGeom prst="rect">
            <a:avLst/>
          </a:prstGeom>
          <a:noFill/>
        </p:spPr>
        <p:txBody>
          <a:bodyPr wrap="square">
            <a:spAutoFit/>
          </a:bodyPr>
          <a:lstStyle/>
          <a:p>
            <a:pPr>
              <a:spcAft>
                <a:spcPts val="1000"/>
              </a:spcAft>
              <a:defRPr sz="1400">
                <a:solidFill>
                  <a:srgbClr val="333333"/>
                </a:solidFill>
                <a:latin typeface="Calibri"/>
              </a:defRPr>
            </a:pPr>
            <a:r>
              <a:rPr dirty="0"/>
              <a:t>Information flow: Macro news — a Fed rate decision, a jobs report — first moves the broad equity and bond hubs. The impact then propagates outward to sector ETFs, then to commodities and currencies at the periphery. The MST's branching structure traces this propagation path explicitly.</a:t>
            </a:r>
          </a:p>
          <a:p>
            <a:pPr>
              <a:spcAft>
                <a:spcPts val="1000"/>
              </a:spcAft>
              <a:defRPr sz="1400">
                <a:solidFill>
                  <a:srgbClr val="333333"/>
                </a:solidFill>
                <a:latin typeface="Calibri"/>
              </a:defRPr>
            </a:pPr>
            <a:r>
              <a:rPr dirty="0"/>
              <a:t>Risk contagion: During crises the tree contracts — peripheral assets get pulled closer to the hubs as correlations spike. The Fiedler value (algebraic connectivity) rises, telling us the market is tightly coupled and diversification benefits are shrinking. Our strategy scales down exposure when this happens.</a:t>
            </a:r>
          </a:p>
          <a:p>
            <a:pPr>
              <a:spcAft>
                <a:spcPts val="1000"/>
              </a:spcAft>
              <a:defRPr sz="1400">
                <a:solidFill>
                  <a:srgbClr val="333333"/>
                </a:solidFill>
                <a:latin typeface="Calibri"/>
              </a:defRPr>
            </a:pPr>
            <a:r>
              <a:rPr dirty="0"/>
              <a:t>Mean-reversion asymmetry: A dislocation between two hub assets often reflects a genuine regime shift and is less likely to revert. A dislocation between a hub and a peripheral leaf more often reflects a temporary, idiosyncratic shock that the structural pull of the network will correct. The effective resistance metric captures exactly this distinction — it is higher for peripheral pairs, reflecting their weaker structural anchor.</a:t>
            </a:r>
          </a:p>
          <a:p>
            <a:pPr>
              <a:spcAft>
                <a:spcPts val="1000"/>
              </a:spcAft>
              <a:defRPr sz="1400">
                <a:solidFill>
                  <a:srgbClr val="333333"/>
                </a:solidFill>
                <a:latin typeface="Calibri"/>
              </a:defRPr>
            </a:pPr>
            <a:r>
              <a:rPr dirty="0"/>
              <a:t>Effective resistance as 'relationship strength': Two assets with low effective resistance are tightly linked through the network — their relationship is reinforced by multiple short paths through intermediaries. High effective resistance means the connection is tenuous, relying on a single long chain. When low-resistance pairs dislocate, the snap-back is fastest because the structural glue is strongest.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Investment Universe &amp; Data</a:t>
            </a:r>
          </a:p>
        </p:txBody>
      </p:sp>
      <p:sp>
        <p:nvSpPr>
          <p:cNvPr id="4" name="TextBox 3"/>
          <p:cNvSpPr txBox="1"/>
          <p:nvPr/>
        </p:nvSpPr>
        <p:spPr>
          <a:xfrm>
            <a:off x="914400" y="1280160"/>
            <a:ext cx="10058400" cy="640080"/>
          </a:xfrm>
          <a:prstGeom prst="rect">
            <a:avLst/>
          </a:prstGeom>
          <a:noFill/>
        </p:spPr>
        <p:txBody>
          <a:bodyPr wrap="square">
            <a:spAutoFit/>
          </a:bodyPr>
          <a:lstStyle/>
          <a:p>
            <a:pPr algn="l">
              <a:defRPr sz="1600" b="0">
                <a:solidFill>
                  <a:srgbClr val="333333"/>
                </a:solidFill>
                <a:latin typeface="Calibri"/>
              </a:defRPr>
            </a:pPr>
            <a:r>
              <a:t>We trade 21 highly liquid ETFs spanning four major asset classes, sourced from NASDAQ Data Link (QuoteMedia). The sample covers January 2018 through December 2025 — nearly eight years including the COVID crash, the 2022 rate-hiking cycle, and the 2023-25 recovery.</a:t>
            </a:r>
          </a:p>
        </p:txBody>
      </p:sp>
      <p:sp>
        <p:nvSpPr>
          <p:cNvPr id="5" name="Rectangle 4"/>
          <p:cNvSpPr/>
          <p:nvPr/>
        </p:nvSpPr>
        <p:spPr>
          <a:xfrm>
            <a:off x="731520" y="2377440"/>
            <a:ext cx="2560320" cy="2011680"/>
          </a:xfrm>
          <a:prstGeom prst="rect">
            <a:avLst/>
          </a:prstGeom>
          <a:solidFill>
            <a:srgbClr val="F0F2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514600"/>
            <a:ext cx="2286000" cy="365760"/>
          </a:xfrm>
          <a:prstGeom prst="rect">
            <a:avLst/>
          </a:prstGeom>
          <a:noFill/>
        </p:spPr>
        <p:txBody>
          <a:bodyPr wrap="square">
            <a:spAutoFit/>
          </a:bodyPr>
          <a:lstStyle/>
          <a:p>
            <a:pPr algn="l">
              <a:defRPr sz="1600" b="1">
                <a:solidFill>
                  <a:srgbClr val="1B2A4A"/>
                </a:solidFill>
                <a:latin typeface="Calibri"/>
              </a:defRPr>
            </a:pPr>
            <a:r>
              <a:t>Equity Sectors (9)</a:t>
            </a:r>
          </a:p>
        </p:txBody>
      </p:sp>
      <p:sp>
        <p:nvSpPr>
          <p:cNvPr id="7" name="TextBox 6"/>
          <p:cNvSpPr txBox="1"/>
          <p:nvPr/>
        </p:nvSpPr>
        <p:spPr>
          <a:xfrm>
            <a:off x="868680" y="2971800"/>
            <a:ext cx="2286000" cy="1188720"/>
          </a:xfrm>
          <a:prstGeom prst="rect">
            <a:avLst/>
          </a:prstGeom>
          <a:noFill/>
        </p:spPr>
        <p:txBody>
          <a:bodyPr wrap="square">
            <a:spAutoFit/>
          </a:bodyPr>
          <a:lstStyle/>
          <a:p>
            <a:pPr algn="l">
              <a:defRPr sz="1400" b="0">
                <a:solidFill>
                  <a:srgbClr val="666666"/>
                </a:solidFill>
                <a:latin typeface="Calibri"/>
              </a:defRPr>
            </a:pPr>
            <a:r>
              <a:t>XLF, XLK, XLE, XLV, XLI,</a:t>
            </a:r>
            <a:br/>
            <a:r>
              <a:t>XLY, XLP, XLB, XLU</a:t>
            </a:r>
          </a:p>
        </p:txBody>
      </p:sp>
      <p:sp>
        <p:nvSpPr>
          <p:cNvPr id="8" name="Rectangle 7"/>
          <p:cNvSpPr/>
          <p:nvPr/>
        </p:nvSpPr>
        <p:spPr>
          <a:xfrm>
            <a:off x="3566160" y="2377440"/>
            <a:ext cx="2560320" cy="2011680"/>
          </a:xfrm>
          <a:prstGeom prst="rect">
            <a:avLst/>
          </a:prstGeom>
          <a:solidFill>
            <a:srgbClr val="F0F2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03320" y="2514600"/>
            <a:ext cx="2286000" cy="365760"/>
          </a:xfrm>
          <a:prstGeom prst="rect">
            <a:avLst/>
          </a:prstGeom>
          <a:noFill/>
        </p:spPr>
        <p:txBody>
          <a:bodyPr wrap="square">
            <a:spAutoFit/>
          </a:bodyPr>
          <a:lstStyle/>
          <a:p>
            <a:pPr algn="l">
              <a:defRPr sz="1600" b="1">
                <a:solidFill>
                  <a:srgbClr val="1B2A4A"/>
                </a:solidFill>
                <a:latin typeface="Calibri"/>
              </a:defRPr>
            </a:pPr>
            <a:r>
              <a:t>Commodities (4)</a:t>
            </a:r>
          </a:p>
        </p:txBody>
      </p:sp>
      <p:sp>
        <p:nvSpPr>
          <p:cNvPr id="10" name="TextBox 9"/>
          <p:cNvSpPr txBox="1"/>
          <p:nvPr/>
        </p:nvSpPr>
        <p:spPr>
          <a:xfrm>
            <a:off x="3703320" y="2971800"/>
            <a:ext cx="2286000" cy="1188720"/>
          </a:xfrm>
          <a:prstGeom prst="rect">
            <a:avLst/>
          </a:prstGeom>
          <a:noFill/>
        </p:spPr>
        <p:txBody>
          <a:bodyPr wrap="square">
            <a:spAutoFit/>
          </a:bodyPr>
          <a:lstStyle/>
          <a:p>
            <a:pPr algn="l">
              <a:defRPr sz="1400" b="0">
                <a:solidFill>
                  <a:srgbClr val="666666"/>
                </a:solidFill>
                <a:latin typeface="Calibri"/>
              </a:defRPr>
            </a:pPr>
            <a:r>
              <a:t>GLD, SLV, USO, DBA</a:t>
            </a:r>
          </a:p>
        </p:txBody>
      </p:sp>
      <p:sp>
        <p:nvSpPr>
          <p:cNvPr id="11" name="Rectangle 10"/>
          <p:cNvSpPr/>
          <p:nvPr/>
        </p:nvSpPr>
        <p:spPr>
          <a:xfrm>
            <a:off x="6400800" y="2377440"/>
            <a:ext cx="2560320" cy="2011680"/>
          </a:xfrm>
          <a:prstGeom prst="rect">
            <a:avLst/>
          </a:prstGeom>
          <a:solidFill>
            <a:srgbClr val="F0F2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2514600"/>
            <a:ext cx="2286000" cy="365760"/>
          </a:xfrm>
          <a:prstGeom prst="rect">
            <a:avLst/>
          </a:prstGeom>
          <a:noFill/>
        </p:spPr>
        <p:txBody>
          <a:bodyPr wrap="square">
            <a:spAutoFit/>
          </a:bodyPr>
          <a:lstStyle/>
          <a:p>
            <a:pPr algn="l">
              <a:defRPr sz="1600" b="1">
                <a:solidFill>
                  <a:srgbClr val="1B2A4A"/>
                </a:solidFill>
                <a:latin typeface="Calibri"/>
              </a:defRPr>
            </a:pPr>
            <a:r>
              <a:t>Currencies (4)</a:t>
            </a:r>
          </a:p>
        </p:txBody>
      </p:sp>
      <p:sp>
        <p:nvSpPr>
          <p:cNvPr id="13" name="TextBox 12"/>
          <p:cNvSpPr txBox="1"/>
          <p:nvPr/>
        </p:nvSpPr>
        <p:spPr>
          <a:xfrm>
            <a:off x="6537960" y="2971800"/>
            <a:ext cx="2286000" cy="1188720"/>
          </a:xfrm>
          <a:prstGeom prst="rect">
            <a:avLst/>
          </a:prstGeom>
          <a:noFill/>
        </p:spPr>
        <p:txBody>
          <a:bodyPr wrap="square">
            <a:spAutoFit/>
          </a:bodyPr>
          <a:lstStyle/>
          <a:p>
            <a:pPr algn="l">
              <a:defRPr sz="1400" b="0">
                <a:solidFill>
                  <a:srgbClr val="666666"/>
                </a:solidFill>
                <a:latin typeface="Calibri"/>
              </a:defRPr>
            </a:pPr>
            <a:r>
              <a:t>FXE, FXB, FXY, FXA</a:t>
            </a:r>
          </a:p>
        </p:txBody>
      </p:sp>
      <p:sp>
        <p:nvSpPr>
          <p:cNvPr id="14" name="Rectangle 13"/>
          <p:cNvSpPr/>
          <p:nvPr/>
        </p:nvSpPr>
        <p:spPr>
          <a:xfrm>
            <a:off x="9235440" y="2377440"/>
            <a:ext cx="2560320" cy="2011680"/>
          </a:xfrm>
          <a:prstGeom prst="rect">
            <a:avLst/>
          </a:prstGeom>
          <a:solidFill>
            <a:srgbClr val="F0F2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72600" y="2514600"/>
            <a:ext cx="2286000" cy="365760"/>
          </a:xfrm>
          <a:prstGeom prst="rect">
            <a:avLst/>
          </a:prstGeom>
          <a:noFill/>
        </p:spPr>
        <p:txBody>
          <a:bodyPr wrap="square">
            <a:spAutoFit/>
          </a:bodyPr>
          <a:lstStyle/>
          <a:p>
            <a:pPr algn="l">
              <a:defRPr sz="1600" b="1">
                <a:solidFill>
                  <a:srgbClr val="1B2A4A"/>
                </a:solidFill>
                <a:latin typeface="Calibri"/>
              </a:defRPr>
            </a:pPr>
            <a:r>
              <a:t>Fixed Income (4)</a:t>
            </a:r>
          </a:p>
        </p:txBody>
      </p:sp>
      <p:sp>
        <p:nvSpPr>
          <p:cNvPr id="16" name="TextBox 15"/>
          <p:cNvSpPr txBox="1"/>
          <p:nvPr/>
        </p:nvSpPr>
        <p:spPr>
          <a:xfrm>
            <a:off x="9372600" y="2971800"/>
            <a:ext cx="2286000" cy="1188720"/>
          </a:xfrm>
          <a:prstGeom prst="rect">
            <a:avLst/>
          </a:prstGeom>
          <a:noFill/>
        </p:spPr>
        <p:txBody>
          <a:bodyPr wrap="square">
            <a:spAutoFit/>
          </a:bodyPr>
          <a:lstStyle/>
          <a:p>
            <a:pPr algn="l">
              <a:defRPr sz="1400" b="0">
                <a:solidFill>
                  <a:srgbClr val="666666"/>
                </a:solidFill>
                <a:latin typeface="Calibri"/>
              </a:defRPr>
            </a:pPr>
            <a:r>
              <a:t>TLT, IEF, HYG, LQD</a:t>
            </a:r>
          </a:p>
        </p:txBody>
      </p:sp>
      <p:sp>
        <p:nvSpPr>
          <p:cNvPr id="17" name="TextBox 16"/>
          <p:cNvSpPr txBox="1"/>
          <p:nvPr/>
        </p:nvSpPr>
        <p:spPr>
          <a:xfrm>
            <a:off x="914400" y="4846320"/>
            <a:ext cx="10058400" cy="457200"/>
          </a:xfrm>
          <a:prstGeom prst="rect">
            <a:avLst/>
          </a:prstGeom>
          <a:noFill/>
        </p:spPr>
        <p:txBody>
          <a:bodyPr wrap="square">
            <a:spAutoFit/>
          </a:bodyPr>
          <a:lstStyle/>
          <a:p>
            <a:pPr algn="l">
              <a:defRPr sz="1300" b="0">
                <a:solidFill>
                  <a:srgbClr val="666666"/>
                </a:solidFill>
                <a:latin typeface="Calibri"/>
              </a:defRPr>
            </a:pPr>
            <a:r>
              <a:t>Data source: NASDAQ Data Link — QuoteMedia adjusted close prices  |  ~1,860 daily observations per asset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Why This Strategy</a:t>
            </a:r>
          </a:p>
        </p:txBody>
      </p:sp>
      <p:sp>
        <p:nvSpPr>
          <p:cNvPr id="4" name="TextBox 3"/>
          <p:cNvSpPr txBox="1"/>
          <p:nvPr/>
        </p:nvSpPr>
        <p:spPr>
          <a:xfrm>
            <a:off x="731520" y="1280160"/>
            <a:ext cx="5120640" cy="5029200"/>
          </a:xfrm>
          <a:prstGeom prst="rect">
            <a:avLst/>
          </a:prstGeom>
          <a:noFill/>
        </p:spPr>
        <p:txBody>
          <a:bodyPr wrap="square">
            <a:spAutoFit/>
          </a:bodyPr>
          <a:lstStyle/>
          <a:p>
            <a:pPr>
              <a:spcAft>
                <a:spcPts val="1400"/>
              </a:spcAft>
              <a:defRPr sz="1500">
                <a:solidFill>
                  <a:srgbClr val="333333"/>
                </a:solidFill>
                <a:latin typeface="Calibri"/>
              </a:defRPr>
            </a:pPr>
            <a:r>
              <a:t>Grounded in peer-reviewed research: Built on Mantegna (1999) distance metrics and spectral graph theory — not ad hoc pattern mining</a:t>
            </a:r>
          </a:p>
          <a:p>
            <a:pPr>
              <a:spcAft>
                <a:spcPts val="1400"/>
              </a:spcAft>
              <a:defRPr sz="1500">
                <a:solidFill>
                  <a:srgbClr val="333333"/>
                </a:solidFill>
                <a:latin typeface="Calibri"/>
              </a:defRPr>
            </a:pPr>
            <a:r>
              <a:t>Structural transparency: The minimum spanning tree reduces a complex correlation matrix to its most informative backbone, making every signal interpretable</a:t>
            </a:r>
          </a:p>
          <a:p>
            <a:pPr>
              <a:spcAft>
                <a:spcPts val="1400"/>
              </a:spcAft>
              <a:defRPr sz="1500">
                <a:solidFill>
                  <a:srgbClr val="333333"/>
                </a:solidFill>
                <a:latin typeface="Calibri"/>
              </a:defRPr>
            </a:pPr>
            <a:r>
              <a:t>Multi-asset diversification: Simultaneously holds 10+ pairs across equities, commodities, currencies, and bonds — no single-asset concentration risk</a:t>
            </a:r>
          </a:p>
        </p:txBody>
      </p:sp>
      <p:sp>
        <p:nvSpPr>
          <p:cNvPr id="5" name="TextBox 4"/>
          <p:cNvSpPr txBox="1"/>
          <p:nvPr/>
        </p:nvSpPr>
        <p:spPr>
          <a:xfrm>
            <a:off x="6217920" y="1280160"/>
            <a:ext cx="5120640" cy="5029200"/>
          </a:xfrm>
          <a:prstGeom prst="rect">
            <a:avLst/>
          </a:prstGeom>
          <a:noFill/>
        </p:spPr>
        <p:txBody>
          <a:bodyPr wrap="square">
            <a:spAutoFit/>
          </a:bodyPr>
          <a:lstStyle/>
          <a:p>
            <a:pPr>
              <a:spcAft>
                <a:spcPts val="1400"/>
              </a:spcAft>
              <a:defRPr sz="1500">
                <a:solidFill>
                  <a:srgbClr val="333333"/>
                </a:solidFill>
                <a:latin typeface="Calibri"/>
              </a:defRPr>
            </a:pPr>
            <a:r>
              <a:t>Adaptive risk scaling: The Fiedler value (algebraic connectivity) detects when the market is fragmenting and automatically reduces exposure before losses compound</a:t>
            </a:r>
          </a:p>
          <a:p>
            <a:pPr>
              <a:spcAft>
                <a:spcPts val="1400"/>
              </a:spcAft>
              <a:defRPr sz="1500">
                <a:solidFill>
                  <a:srgbClr val="333333"/>
                </a:solidFill>
                <a:latin typeface="Calibri"/>
              </a:defRPr>
            </a:pPr>
            <a:r>
              <a:t>Realistic implementation: Weekly rebalancing on liquid ETFs with 5 bps/leg transaction costs — designed for institutional execution, not theoretical backtests</a:t>
            </a:r>
          </a:p>
          <a:p>
            <a:pPr>
              <a:spcAft>
                <a:spcPts val="1400"/>
              </a:spcAft>
              <a:defRPr sz="1500">
                <a:solidFill>
                  <a:srgbClr val="333333"/>
                </a:solidFill>
                <a:latin typeface="Calibri"/>
              </a:defRPr>
            </a:pPr>
            <a:r>
              <a:t>Controlled leverage: Gross exposure is capped and volatility-targeted, keeping risk consistent across market regimes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
            <a:ext cx="9144000" cy="640080"/>
          </a:xfrm>
          <a:prstGeom prst="rect">
            <a:avLst/>
          </a:prstGeom>
          <a:noFill/>
        </p:spPr>
        <p:txBody>
          <a:bodyPr wrap="square">
            <a:spAutoFit/>
          </a:bodyPr>
          <a:lstStyle/>
          <a:p>
            <a:pPr algn="l">
              <a:defRPr sz="3200" b="1">
                <a:solidFill>
                  <a:srgbClr val="FFFFFF"/>
                </a:solidFill>
                <a:latin typeface="Calibri"/>
              </a:defRPr>
            </a:pPr>
            <a:r>
              <a:t>Key Risks &amp; Considerations</a:t>
            </a:r>
          </a:p>
        </p:txBody>
      </p:sp>
      <p:sp>
        <p:nvSpPr>
          <p:cNvPr id="4" name="TextBox 3"/>
          <p:cNvSpPr txBox="1"/>
          <p:nvPr/>
        </p:nvSpPr>
        <p:spPr>
          <a:xfrm>
            <a:off x="914400" y="1371600"/>
            <a:ext cx="10058400" cy="5029200"/>
          </a:xfrm>
          <a:prstGeom prst="rect">
            <a:avLst/>
          </a:prstGeom>
          <a:noFill/>
        </p:spPr>
        <p:txBody>
          <a:bodyPr wrap="square">
            <a:spAutoFit/>
          </a:bodyPr>
          <a:lstStyle/>
          <a:p>
            <a:pPr>
              <a:spcAft>
                <a:spcPts val="1000"/>
              </a:spcAft>
              <a:defRPr sz="1500">
                <a:solidFill>
                  <a:srgbClr val="333333"/>
                </a:solidFill>
                <a:latin typeface="Calibri"/>
              </a:defRPr>
            </a:pPr>
            <a:r>
              <a:t>Regime change: The rolling correlation window assumes that the recent past is informative about the near future. A sudden structural break — such as a new sanctions regime or a commodity supply shock — can invalidate tree geometry before the lookback adapts.</a:t>
            </a:r>
          </a:p>
          <a:p>
            <a:pPr>
              <a:spcAft>
                <a:spcPts val="1000"/>
              </a:spcAft>
              <a:defRPr sz="1500">
                <a:solidFill>
                  <a:srgbClr val="333333"/>
                </a:solidFill>
                <a:latin typeface="Calibri"/>
              </a:defRPr>
            </a:pPr>
            <a:r>
              <a:t>Parameter sensitivity: Choices such as the 252-day correlation window, the 60-window resistance normalization, and the volatility target all affect performance. We test sensitivity to these inputs but acknowledge that no single calibration is universally optimal.</a:t>
            </a:r>
          </a:p>
          <a:p>
            <a:pPr>
              <a:spcAft>
                <a:spcPts val="1000"/>
              </a:spcAft>
              <a:defRPr sz="1500">
                <a:solidFill>
                  <a:srgbClr val="333333"/>
                </a:solidFill>
                <a:latin typeface="Calibri"/>
              </a:defRPr>
            </a:pPr>
            <a:r>
              <a:t>Turnover drag: When the MST reconfigures frequently, transaction costs can erode returns. Restricting trade candidates to current MST edges and capping gross leverage help, but rapid topology shifts remain a headwind.</a:t>
            </a:r>
          </a:p>
          <a:p>
            <a:pPr>
              <a:spcAft>
                <a:spcPts val="1000"/>
              </a:spcAft>
              <a:defRPr sz="1500">
                <a:solidFill>
                  <a:srgbClr val="333333"/>
                </a:solidFill>
                <a:latin typeface="Calibri"/>
              </a:defRPr>
            </a:pPr>
            <a:r>
              <a:t>Crowding: If many participants adopted a similar network-based approach on the same liquid ETF universe, the mean-reversion premium could compress. The niche nature of spectral graph signals offers some protection today, but this is not guaranteed to persist.</a:t>
            </a:r>
          </a:p>
          <a:p>
            <a:pPr>
              <a:spcAft>
                <a:spcPts val="1000"/>
              </a:spcAft>
              <a:defRPr sz="1500">
                <a:solidFill>
                  <a:srgbClr val="333333"/>
                </a:solidFill>
                <a:latin typeface="Calibri"/>
              </a:defRPr>
            </a:pPr>
            <a:r>
              <a:t>Leverage risk: The strategy uses leverage to achieve its return target. In tail scenarios where multiple pairs gap simultaneously, drawdowns can be larger than in an unlevered portfolio. Our Fiedler-based throttle partially mitigates this but does not eliminate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463040"/>
            <a:ext cx="9144000" cy="731520"/>
          </a:xfrm>
          <a:prstGeom prst="rect">
            <a:avLst/>
          </a:prstGeom>
          <a:noFill/>
        </p:spPr>
        <p:txBody>
          <a:bodyPr wrap="square">
            <a:spAutoFit/>
          </a:bodyPr>
          <a:lstStyle/>
          <a:p>
            <a:pPr algn="l">
              <a:defRPr sz="3600" b="1">
                <a:solidFill>
                  <a:srgbClr val="FFFFFF"/>
                </a:solidFill>
                <a:latin typeface="Calibri"/>
              </a:defRPr>
            </a:pPr>
            <a:r>
              <a:t>Next Steps</a:t>
            </a:r>
          </a:p>
        </p:txBody>
      </p:sp>
      <p:sp>
        <p:nvSpPr>
          <p:cNvPr id="4" name="Rectangle 3"/>
          <p:cNvSpPr/>
          <p:nvPr/>
        </p:nvSpPr>
        <p:spPr>
          <a:xfrm>
            <a:off x="1097280" y="2286000"/>
            <a:ext cx="2286000" cy="27432"/>
          </a:xfrm>
          <a:prstGeom prst="rect">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9144000" cy="3200400"/>
          </a:xfrm>
          <a:prstGeom prst="rect">
            <a:avLst/>
          </a:prstGeom>
          <a:noFill/>
        </p:spPr>
        <p:txBody>
          <a:bodyPr wrap="square">
            <a:spAutoFit/>
          </a:bodyPr>
          <a:lstStyle/>
          <a:p>
            <a:pPr>
              <a:spcAft>
                <a:spcPts val="1400"/>
              </a:spcAft>
              <a:defRPr sz="1800">
                <a:solidFill>
                  <a:srgbClr val="FFFFFF"/>
                </a:solidFill>
                <a:latin typeface="Calibri"/>
              </a:defRPr>
            </a:pPr>
            <a:r>
              <a:t>Complete full backtest with transaction costs and funding spreads</a:t>
            </a:r>
          </a:p>
          <a:p>
            <a:pPr>
              <a:spcAft>
                <a:spcPts val="1400"/>
              </a:spcAft>
              <a:defRPr sz="1800">
                <a:solidFill>
                  <a:srgbClr val="FFFFFF"/>
                </a:solidFill>
                <a:latin typeface="Calibri"/>
              </a:defRPr>
            </a:pPr>
            <a:r>
              <a:t>Perform parameter sensitivity analysis across lookback windows and targets</a:t>
            </a:r>
          </a:p>
          <a:p>
            <a:pPr>
              <a:spcAft>
                <a:spcPts val="1400"/>
              </a:spcAft>
              <a:defRPr sz="1800">
                <a:solidFill>
                  <a:srgbClr val="FFFFFF"/>
                </a:solidFill>
                <a:latin typeface="Calibri"/>
              </a:defRPr>
            </a:pPr>
            <a:r>
              <a:t>Benchmark against simple correlation-based pair strategies</a:t>
            </a:r>
          </a:p>
          <a:p>
            <a:pPr>
              <a:spcAft>
                <a:spcPts val="1400"/>
              </a:spcAft>
              <a:defRPr sz="1800">
                <a:solidFill>
                  <a:srgbClr val="FFFFFF"/>
                </a:solidFill>
                <a:latin typeface="Calibri"/>
              </a:defRPr>
            </a:pPr>
            <a:r>
              <a:t>Analyze tail risk and stress-test during historical crises</a:t>
            </a:r>
          </a:p>
          <a:p>
            <a:pPr>
              <a:spcAft>
                <a:spcPts val="1400"/>
              </a:spcAft>
              <a:defRPr sz="1800">
                <a:solidFill>
                  <a:srgbClr val="FFFFFF"/>
                </a:solidFill>
                <a:latin typeface="Calibri"/>
              </a:defRPr>
            </a:pPr>
            <a:r>
              <a:t>Explore adaptive lookback and Bayesian shrinkage for correlations</a:t>
            </a:r>
          </a:p>
        </p:txBody>
      </p:sp>
      <p:sp>
        <p:nvSpPr>
          <p:cNvPr id="6" name="TextBox 5"/>
          <p:cNvSpPr txBox="1"/>
          <p:nvPr/>
        </p:nvSpPr>
        <p:spPr>
          <a:xfrm>
            <a:off x="1097280" y="5669280"/>
            <a:ext cx="9144000" cy="307777"/>
          </a:xfrm>
          <a:prstGeom prst="rect">
            <a:avLst/>
          </a:prstGeom>
          <a:noFill/>
        </p:spPr>
        <p:txBody>
          <a:bodyPr wrap="square">
            <a:spAutoFit/>
          </a:bodyPr>
          <a:lstStyle/>
          <a:p>
            <a:pPr algn="l">
              <a:defRPr sz="1400" b="0">
                <a:solidFill>
                  <a:srgbClr val="8899AA"/>
                </a:solidFill>
                <a:latin typeface="Calibri"/>
              </a:defRPr>
            </a:pPr>
            <a:r>
              <a:t>FINM </a:t>
            </a:r>
            <a:r>
              <a:rPr dirty="0"/>
              <a:t>Winter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1330</Words>
  <Application>Microsoft Office PowerPoint</Application>
  <PresentationFormat>Widescreen</PresentationFormat>
  <Paragraphs>71</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Zara Nip</cp:lastModifiedBy>
  <cp:revision>4</cp:revision>
  <dcterms:created xsi:type="dcterms:W3CDTF">2013-01-27T09:14:16Z</dcterms:created>
  <dcterms:modified xsi:type="dcterms:W3CDTF">2026-02-27T10:24:32Z</dcterms:modified>
  <cp:category/>
</cp:coreProperties>
</file>